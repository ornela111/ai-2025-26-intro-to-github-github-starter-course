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0"/>
  </p:notesMasterIdLst>
  <p:handoutMasterIdLst>
    <p:handoutMasterId r:id="rId21"/>
  </p:handoutMasterIdLst>
  <p:sldIdLst>
    <p:sldId id="312" r:id="rId5"/>
    <p:sldId id="304" r:id="rId6"/>
    <p:sldId id="323" r:id="rId7"/>
    <p:sldId id="281" r:id="rId8"/>
    <p:sldId id="282" r:id="rId9"/>
    <p:sldId id="314" r:id="rId10"/>
    <p:sldId id="315" r:id="rId11"/>
    <p:sldId id="317" r:id="rId12"/>
    <p:sldId id="318" r:id="rId13"/>
    <p:sldId id="324" r:id="rId14"/>
    <p:sldId id="321" r:id="rId15"/>
    <p:sldId id="325" r:id="rId16"/>
    <p:sldId id="328" r:id="rId17"/>
    <p:sldId id="326" r:id="rId18"/>
    <p:sldId id="327" r:id="rId19"/>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5388" autoAdjust="0"/>
  </p:normalViewPr>
  <p:slideViewPr>
    <p:cSldViewPr snapToGrid="0" snapToObjects="1">
      <p:cViewPr varScale="1">
        <p:scale>
          <a:sx n="66" d="100"/>
          <a:sy n="66" d="100"/>
        </p:scale>
        <p:origin x="544" y="44"/>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rnelasenja123@outlook.com" userId="e88ada7aa27fff25" providerId="LiveId" clId="{E42A65F9-7826-41F0-A1EC-D0611B22F7CC}"/>
    <pc:docChg chg="custSel addSld delSld modSld sldOrd">
      <pc:chgData name="ornelasenja123@outlook.com" userId="e88ada7aa27fff25" providerId="LiveId" clId="{E42A65F9-7826-41F0-A1EC-D0611B22F7CC}" dt="2026-01-21T13:40:23.387" v="107" actId="207"/>
      <pc:docMkLst>
        <pc:docMk/>
      </pc:docMkLst>
      <pc:sldChg chg="modSp mod modTransition">
        <pc:chgData name="ornelasenja123@outlook.com" userId="e88ada7aa27fff25" providerId="LiveId" clId="{E42A65F9-7826-41F0-A1EC-D0611B22F7CC}" dt="2026-01-20T22:39:06.135" v="21" actId="20577"/>
        <pc:sldMkLst>
          <pc:docMk/>
          <pc:sldMk cId="2952923800" sldId="281"/>
        </pc:sldMkLst>
        <pc:spChg chg="mod">
          <ac:chgData name="ornelasenja123@outlook.com" userId="e88ada7aa27fff25" providerId="LiveId" clId="{E42A65F9-7826-41F0-A1EC-D0611B22F7CC}" dt="2026-01-20T22:39:06.135" v="21" actId="20577"/>
          <ac:spMkLst>
            <pc:docMk/>
            <pc:sldMk cId="2952923800" sldId="281"/>
            <ac:spMk id="3" creationId="{A2E339BF-E6D7-DD0E-AF02-6813852EE723}"/>
          </ac:spMkLst>
        </pc:spChg>
      </pc:sldChg>
      <pc:sldChg chg="modSp mod modTransition">
        <pc:chgData name="ornelasenja123@outlook.com" userId="e88ada7aa27fff25" providerId="LiveId" clId="{E42A65F9-7826-41F0-A1EC-D0611B22F7CC}" dt="2026-01-20T22:40:05.868" v="48" actId="5793"/>
        <pc:sldMkLst>
          <pc:docMk/>
          <pc:sldMk cId="685681062" sldId="282"/>
        </pc:sldMkLst>
        <pc:spChg chg="mod">
          <ac:chgData name="ornelasenja123@outlook.com" userId="e88ada7aa27fff25" providerId="LiveId" clId="{E42A65F9-7826-41F0-A1EC-D0611B22F7CC}" dt="2026-01-20T22:40:05.868" v="48" actId="5793"/>
          <ac:spMkLst>
            <pc:docMk/>
            <pc:sldMk cId="685681062" sldId="282"/>
            <ac:spMk id="3" creationId="{75111C33-898C-4414-4665-5136EB6FC126}"/>
          </ac:spMkLst>
        </pc:spChg>
      </pc:sldChg>
      <pc:sldChg chg="modTransition">
        <pc:chgData name="ornelasenja123@outlook.com" userId="e88ada7aa27fff25" providerId="LiveId" clId="{E42A65F9-7826-41F0-A1EC-D0611B22F7CC}" dt="2026-01-20T22:36:26.584" v="3"/>
        <pc:sldMkLst>
          <pc:docMk/>
          <pc:sldMk cId="3913219759" sldId="304"/>
        </pc:sldMkLst>
      </pc:sldChg>
      <pc:sldChg chg="modTransition">
        <pc:chgData name="ornelasenja123@outlook.com" userId="e88ada7aa27fff25" providerId="LiveId" clId="{E42A65F9-7826-41F0-A1EC-D0611B22F7CC}" dt="2026-01-20T22:36:18.922" v="2"/>
        <pc:sldMkLst>
          <pc:docMk/>
          <pc:sldMk cId="2202437675" sldId="312"/>
        </pc:sldMkLst>
      </pc:sldChg>
      <pc:sldChg chg="modSp mod modTransition">
        <pc:chgData name="ornelasenja123@outlook.com" userId="e88ada7aa27fff25" providerId="LiveId" clId="{E42A65F9-7826-41F0-A1EC-D0611B22F7CC}" dt="2026-01-20T22:40:12.876" v="63" actId="20577"/>
        <pc:sldMkLst>
          <pc:docMk/>
          <pc:sldMk cId="1131718056" sldId="314"/>
        </pc:sldMkLst>
        <pc:spChg chg="mod">
          <ac:chgData name="ornelasenja123@outlook.com" userId="e88ada7aa27fff25" providerId="LiveId" clId="{E42A65F9-7826-41F0-A1EC-D0611B22F7CC}" dt="2026-01-20T22:40:12.876" v="63" actId="20577"/>
          <ac:spMkLst>
            <pc:docMk/>
            <pc:sldMk cId="1131718056" sldId="314"/>
            <ac:spMk id="4" creationId="{BDDD6BDC-E008-6AB7-55A1-46ED9BCF054F}"/>
          </ac:spMkLst>
        </pc:spChg>
      </pc:sldChg>
      <pc:sldChg chg="modTransition">
        <pc:chgData name="ornelasenja123@outlook.com" userId="e88ada7aa27fff25" providerId="LiveId" clId="{E42A65F9-7826-41F0-A1EC-D0611B22F7CC}" dt="2026-01-20T22:36:58.594" v="10"/>
        <pc:sldMkLst>
          <pc:docMk/>
          <pc:sldMk cId="2468595790" sldId="315"/>
        </pc:sldMkLst>
      </pc:sldChg>
      <pc:sldChg chg="modTransition">
        <pc:chgData name="ornelasenja123@outlook.com" userId="e88ada7aa27fff25" providerId="LiveId" clId="{E42A65F9-7826-41F0-A1EC-D0611B22F7CC}" dt="2026-01-20T22:37:21.306" v="13"/>
        <pc:sldMkLst>
          <pc:docMk/>
          <pc:sldMk cId="1941619646" sldId="317"/>
        </pc:sldMkLst>
      </pc:sldChg>
      <pc:sldChg chg="modTransition">
        <pc:chgData name="ornelasenja123@outlook.com" userId="e88ada7aa27fff25" providerId="LiveId" clId="{E42A65F9-7826-41F0-A1EC-D0611B22F7CC}" dt="2026-01-20T22:37:29.053" v="14"/>
        <pc:sldMkLst>
          <pc:docMk/>
          <pc:sldMk cId="4072101725" sldId="318"/>
        </pc:sldMkLst>
      </pc:sldChg>
      <pc:sldChg chg="modSp mod modTransition">
        <pc:chgData name="ornelasenja123@outlook.com" userId="e88ada7aa27fff25" providerId="LiveId" clId="{E42A65F9-7826-41F0-A1EC-D0611B22F7CC}" dt="2026-01-21T13:40:23.387" v="107" actId="207"/>
        <pc:sldMkLst>
          <pc:docMk/>
          <pc:sldMk cId="2498021601" sldId="321"/>
        </pc:sldMkLst>
        <pc:spChg chg="mod">
          <ac:chgData name="ornelasenja123@outlook.com" userId="e88ada7aa27fff25" providerId="LiveId" clId="{E42A65F9-7826-41F0-A1EC-D0611B22F7CC}" dt="2026-01-21T13:40:23.387" v="107" actId="207"/>
          <ac:spMkLst>
            <pc:docMk/>
            <pc:sldMk cId="2498021601" sldId="321"/>
            <ac:spMk id="4" creationId="{BD17FB1A-02E5-4300-996C-E6B4430D019E}"/>
          </ac:spMkLst>
        </pc:spChg>
      </pc:sldChg>
      <pc:sldChg chg="modTransition">
        <pc:chgData name="ornelasenja123@outlook.com" userId="e88ada7aa27fff25" providerId="LiveId" clId="{E42A65F9-7826-41F0-A1EC-D0611B22F7CC}" dt="2026-01-20T22:36:30.334" v="4"/>
        <pc:sldMkLst>
          <pc:docMk/>
          <pc:sldMk cId="3809284043" sldId="323"/>
        </pc:sldMkLst>
      </pc:sldChg>
      <pc:sldChg chg="modTransition">
        <pc:chgData name="ornelasenja123@outlook.com" userId="e88ada7aa27fff25" providerId="LiveId" clId="{E42A65F9-7826-41F0-A1EC-D0611B22F7CC}" dt="2026-01-20T22:37:32.739" v="15"/>
        <pc:sldMkLst>
          <pc:docMk/>
          <pc:sldMk cId="1840537211" sldId="324"/>
        </pc:sldMkLst>
      </pc:sldChg>
      <pc:sldChg chg="modSp mod">
        <pc:chgData name="ornelasenja123@outlook.com" userId="e88ada7aa27fff25" providerId="LiveId" clId="{E42A65F9-7826-41F0-A1EC-D0611B22F7CC}" dt="2026-01-21T13:39:24.183" v="103" actId="255"/>
        <pc:sldMkLst>
          <pc:docMk/>
          <pc:sldMk cId="593176186" sldId="325"/>
        </pc:sldMkLst>
        <pc:spChg chg="mod">
          <ac:chgData name="ornelasenja123@outlook.com" userId="e88ada7aa27fff25" providerId="LiveId" clId="{E42A65F9-7826-41F0-A1EC-D0611B22F7CC}" dt="2026-01-21T13:39:24.183" v="103" actId="255"/>
          <ac:spMkLst>
            <pc:docMk/>
            <pc:sldMk cId="593176186" sldId="325"/>
            <ac:spMk id="4" creationId="{087FC2DE-B406-49DB-92AB-D66B63A40A54}"/>
          </ac:spMkLst>
        </pc:spChg>
      </pc:sldChg>
      <pc:sldChg chg="ord modTransition">
        <pc:chgData name="ornelasenja123@outlook.com" userId="e88ada7aa27fff25" providerId="LiveId" clId="{E42A65F9-7826-41F0-A1EC-D0611B22F7CC}" dt="2026-01-21T12:05:39.895" v="99"/>
        <pc:sldMkLst>
          <pc:docMk/>
          <pc:sldMk cId="3253594606" sldId="326"/>
        </pc:sldMkLst>
      </pc:sldChg>
      <pc:sldChg chg="ord modTransition">
        <pc:chgData name="ornelasenja123@outlook.com" userId="e88ada7aa27fff25" providerId="LiveId" clId="{E42A65F9-7826-41F0-A1EC-D0611B22F7CC}" dt="2026-01-21T12:05:36.944" v="97"/>
        <pc:sldMkLst>
          <pc:docMk/>
          <pc:sldMk cId="2675123111" sldId="327"/>
        </pc:sldMkLst>
      </pc:sldChg>
      <pc:sldChg chg="addSp delSp modSp new mod">
        <pc:chgData name="ornelasenja123@outlook.com" userId="e88ada7aa27fff25" providerId="LiveId" clId="{E42A65F9-7826-41F0-A1EC-D0611B22F7CC}" dt="2026-01-21T11:52:20.153" v="95" actId="14100"/>
        <pc:sldMkLst>
          <pc:docMk/>
          <pc:sldMk cId="354903954" sldId="328"/>
        </pc:sldMkLst>
        <pc:spChg chg="mod">
          <ac:chgData name="ornelasenja123@outlook.com" userId="e88ada7aa27fff25" providerId="LiveId" clId="{E42A65F9-7826-41F0-A1EC-D0611B22F7CC}" dt="2026-01-21T11:52:20.153" v="95" actId="14100"/>
          <ac:spMkLst>
            <pc:docMk/>
            <pc:sldMk cId="354903954" sldId="328"/>
            <ac:spMk id="2" creationId="{867CEFC3-EA19-4D1B-BDA6-731CB1D45AD1}"/>
          </ac:spMkLst>
        </pc:spChg>
        <pc:spChg chg="del">
          <ac:chgData name="ornelasenja123@outlook.com" userId="e88ada7aa27fff25" providerId="LiveId" clId="{E42A65F9-7826-41F0-A1EC-D0611B22F7CC}" dt="2026-01-21T11:50:29.521" v="69" actId="931"/>
          <ac:spMkLst>
            <pc:docMk/>
            <pc:sldMk cId="354903954" sldId="328"/>
            <ac:spMk id="4" creationId="{174FFDB2-FD3C-498F-9969-5104D523FE90}"/>
          </ac:spMkLst>
        </pc:spChg>
        <pc:picChg chg="add mod ord">
          <ac:chgData name="ornelasenja123@outlook.com" userId="e88ada7aa27fff25" providerId="LiveId" clId="{E42A65F9-7826-41F0-A1EC-D0611B22F7CC}" dt="2026-01-21T11:51:06.973" v="79" actId="1076"/>
          <ac:picMkLst>
            <pc:docMk/>
            <pc:sldMk cId="354903954" sldId="328"/>
            <ac:picMk id="6" creationId="{8CA8528B-6C86-4FE3-B94B-5623F444CBB3}"/>
          </ac:picMkLst>
        </pc:picChg>
      </pc:sldChg>
      <pc:sldChg chg="addSp delSp new del mod">
        <pc:chgData name="ornelasenja123@outlook.com" userId="e88ada7aa27fff25" providerId="LiveId" clId="{E42A65F9-7826-41F0-A1EC-D0611B22F7CC}" dt="2026-01-21T11:50:05.953" v="67" actId="2696"/>
        <pc:sldMkLst>
          <pc:docMk/>
          <pc:sldMk cId="3652810329" sldId="328"/>
        </pc:sldMkLst>
        <pc:picChg chg="add del">
          <ac:chgData name="ornelasenja123@outlook.com" userId="e88ada7aa27fff25" providerId="LiveId" clId="{E42A65F9-7826-41F0-A1EC-D0611B22F7CC}" dt="2026-01-21T11:49:58.869" v="66" actId="478"/>
          <ac:picMkLst>
            <pc:docMk/>
            <pc:sldMk cId="3652810329" sldId="328"/>
            <ac:picMk id="4" creationId="{A15A5211-E348-4F69-B2AC-E3A7F03E7BA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sz="1800" b="1" dirty="0">
                <a:solidFill>
                  <a:schemeClr val="accent3"/>
                </a:solidFill>
              </a:rPr>
              <a:t>Context-Aware Academic Help Chatbot</a:t>
            </a:r>
            <a:br>
              <a:rPr lang="en-US" sz="1800" dirty="0">
                <a:solidFill>
                  <a:schemeClr val="accent3"/>
                </a:solidFill>
              </a:rPr>
            </a:br>
            <a:r>
              <a:rPr lang="en-US" sz="1800" b="1" dirty="0">
                <a:solidFill>
                  <a:schemeClr val="accent3"/>
                </a:solidFill>
              </a:rPr>
              <a:t>Course:</a:t>
            </a:r>
            <a:r>
              <a:rPr lang="en-US" sz="1800" dirty="0">
                <a:solidFill>
                  <a:schemeClr val="accent3"/>
                </a:solidFill>
              </a:rPr>
              <a:t> CEN 352 – Artificial Intelligence</a:t>
            </a:r>
            <a:br>
              <a:rPr lang="en-US" sz="1800" dirty="0">
                <a:solidFill>
                  <a:schemeClr val="accent3"/>
                </a:solidFill>
              </a:rPr>
            </a:br>
            <a:r>
              <a:rPr lang="en-US" sz="1800" b="1" dirty="0">
                <a:solidFill>
                  <a:schemeClr val="accent3"/>
                </a:solidFill>
              </a:rPr>
              <a:t>Student:</a:t>
            </a:r>
            <a:r>
              <a:rPr lang="en-US" sz="1800" dirty="0">
                <a:solidFill>
                  <a:schemeClr val="accent3"/>
                </a:solidFill>
              </a:rPr>
              <a:t> </a:t>
            </a:r>
            <a:r>
              <a:rPr lang="en-US" sz="1800" dirty="0" err="1">
                <a:solidFill>
                  <a:schemeClr val="accent3"/>
                </a:solidFill>
              </a:rPr>
              <a:t>Ornela</a:t>
            </a:r>
            <a:r>
              <a:rPr lang="en-US" sz="1800" dirty="0">
                <a:solidFill>
                  <a:schemeClr val="accent3"/>
                </a:solidFill>
              </a:rPr>
              <a:t> </a:t>
            </a:r>
            <a:r>
              <a:rPr lang="en-US" sz="1800" dirty="0" err="1">
                <a:solidFill>
                  <a:schemeClr val="accent3"/>
                </a:solidFill>
              </a:rPr>
              <a:t>Senja</a:t>
            </a:r>
            <a:br>
              <a:rPr lang="en-US" sz="1800" dirty="0">
                <a:solidFill>
                  <a:schemeClr val="accent3"/>
                </a:solidFill>
              </a:rPr>
            </a:br>
            <a:r>
              <a:rPr lang="en-US" sz="1800" b="1" dirty="0">
                <a:solidFill>
                  <a:schemeClr val="accent3"/>
                </a:solidFill>
              </a:rPr>
              <a:t>Year:</a:t>
            </a:r>
            <a:r>
              <a:rPr lang="en-US" sz="1800" dirty="0">
                <a:solidFill>
                  <a:schemeClr val="accent3"/>
                </a:solidFill>
              </a:rPr>
              <a:t> 2025-2026</a:t>
            </a:r>
            <a:br>
              <a:rPr lang="en-US" sz="1800" dirty="0">
                <a:solidFill>
                  <a:schemeClr val="accent3"/>
                </a:solidFill>
              </a:rPr>
            </a:br>
            <a:r>
              <a:rPr lang="en-US" sz="1600" dirty="0"/>
              <a:t>This project focuses on the design and implementation of a context-aware academic help chatbot using artificial intelligence techniques. The system allows students to interact with a chatbot through natural language and receive helpful academic responses in real time.</a:t>
            </a:r>
            <a:br>
              <a:rPr lang="en-US" sz="1600" dirty="0"/>
            </a:br>
            <a:endParaRPr lang="en-US" sz="1600" dirty="0"/>
          </a:p>
        </p:txBody>
      </p:sp>
    </p:spTree>
    <p:extLst>
      <p:ext uri="{BB962C8B-B14F-4D97-AF65-F5344CB8AC3E}">
        <p14:creationId xmlns:p14="http://schemas.microsoft.com/office/powerpoint/2010/main" val="220243767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b="1" dirty="0"/>
              <a:t>INTRODUCTION</a:t>
            </a:r>
            <a:br>
              <a:rPr lang="en-US" b="1" dirty="0"/>
            </a:br>
            <a:endParaRPr lang="en-US" dirty="0"/>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702644" y="2377440"/>
            <a:ext cx="6795436" cy="3664544"/>
          </a:xfrm>
        </p:spPr>
        <p:txBody>
          <a:bodyPr>
            <a:normAutofit fontScale="70000" lnSpcReduction="20000"/>
          </a:bodyPr>
          <a:lstStyle/>
          <a:p>
            <a:endParaRPr lang="en-US" b="1" dirty="0"/>
          </a:p>
          <a:p>
            <a:r>
              <a:rPr lang="en-US" dirty="0"/>
              <a:t>Chatbots are artificial intelligence systems designed to communicate with users using natural language. They are widely used in education, customer support, and information systems. In an academic environment, chatbots can help students quickly access important information without searching through multiple resources.</a:t>
            </a:r>
          </a:p>
          <a:p>
            <a:r>
              <a:rPr lang="en-US" dirty="0"/>
              <a:t>This project presents a context-aware academic help chatbot that assists students by answering questions related to studies, exams, and subjects. The chatbot provides instant responses and improves the learning experience by being available at any time.</a:t>
            </a: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DA435-AE0B-4ACB-B125-5AE95F20EC49}"/>
              </a:ext>
            </a:extLst>
          </p:cNvPr>
          <p:cNvSpPr>
            <a:spLocks noGrp="1"/>
          </p:cNvSpPr>
          <p:nvPr>
            <p:ph type="title"/>
          </p:nvPr>
        </p:nvSpPr>
        <p:spPr/>
        <p:txBody>
          <a:bodyPr/>
          <a:lstStyle/>
          <a:p>
            <a:r>
              <a:rPr lang="en-US" b="1" dirty="0"/>
              <a:t>PROBLEM STATEMENT</a:t>
            </a:r>
            <a:br>
              <a:rPr lang="en-US" b="1" dirty="0"/>
            </a:br>
            <a:endParaRPr lang="en-US" dirty="0"/>
          </a:p>
        </p:txBody>
      </p:sp>
      <p:sp>
        <p:nvSpPr>
          <p:cNvPr id="3" name="Content Placeholder 2">
            <a:extLst>
              <a:ext uri="{FF2B5EF4-FFF2-40B4-BE49-F238E27FC236}">
                <a16:creationId xmlns:a16="http://schemas.microsoft.com/office/drawing/2014/main" id="{9ED6FB2B-02A9-4978-9574-E27A5CDF0736}"/>
              </a:ext>
            </a:extLst>
          </p:cNvPr>
          <p:cNvSpPr>
            <a:spLocks noGrp="1"/>
          </p:cNvSpPr>
          <p:nvPr>
            <p:ph idx="1"/>
          </p:nvPr>
        </p:nvSpPr>
        <p:spPr/>
        <p:txBody>
          <a:bodyPr>
            <a:normAutofit fontScale="62500" lnSpcReduction="20000"/>
          </a:bodyPr>
          <a:lstStyle/>
          <a:p>
            <a:r>
              <a:rPr lang="en-US" dirty="0"/>
              <a:t>Students often face difficulties when they need quick academic help, such as understanding study topics or finding exam-related information. Traditional academic platforms are usually static, meaning students must manually search for information, which can be time-consuming and frustrating.</a:t>
            </a:r>
          </a:p>
          <a:p>
            <a:r>
              <a:rPr lang="en-US" dirty="0"/>
              <a:t>The problem addressed in this project is the lack of an intelligent, interactive system that can understand student questions and respond appropriately. A chatbot powered by artificial intelligence can solve this problem by providing fast, accurate, and user-friendly academic assistance.</a:t>
            </a:r>
          </a:p>
          <a:p>
            <a:endParaRPr lang="en-US" dirty="0"/>
          </a:p>
        </p:txBody>
      </p:sp>
      <p:sp>
        <p:nvSpPr>
          <p:cNvPr id="4" name="Slide Number Placeholder 3">
            <a:extLst>
              <a:ext uri="{FF2B5EF4-FFF2-40B4-BE49-F238E27FC236}">
                <a16:creationId xmlns:a16="http://schemas.microsoft.com/office/drawing/2014/main" id="{BC37A5D5-AF42-4582-8EF6-4D6D1AFC35DD}"/>
              </a:ext>
            </a:extLst>
          </p:cNvPr>
          <p:cNvSpPr>
            <a:spLocks noGrp="1"/>
          </p:cNvSpPr>
          <p:nvPr>
            <p:ph type="sldNum" sz="quarter" idx="10"/>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380928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400" y="1057275"/>
            <a:ext cx="5259554" cy="2495028"/>
          </a:xfrm>
        </p:spPr>
        <p:txBody>
          <a:bodyPr/>
          <a:lstStyle/>
          <a:p>
            <a:r>
              <a:rPr lang="en-US" b="1" dirty="0"/>
              <a:t>PROJECT OBJECTIVES</a:t>
            </a:r>
            <a:br>
              <a:rPr lang="en-US" b="1" dirty="0"/>
            </a:br>
            <a:endParaRPr lang="en-US" dirty="0"/>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770021" y="3234088"/>
            <a:ext cx="5403933" cy="2807895"/>
          </a:xfrm>
        </p:spPr>
        <p:txBody>
          <a:bodyPr>
            <a:normAutofit fontScale="77500" lnSpcReduction="20000"/>
          </a:bodyPr>
          <a:lstStyle/>
          <a:p>
            <a:r>
              <a:rPr lang="en-US" dirty="0"/>
              <a:t>The main objectives of this project are to design and implement an intelligent chatbot capable of understanding user input and responding correctly. The chatbot should classify user intentions, manage conversational context, and generate meaningful responses.</a:t>
            </a:r>
          </a:p>
          <a:p>
            <a:r>
              <a:rPr lang="en-US" dirty="0"/>
              <a:t>Another objective is to apply artificial intelligence techniques learned in the course, including machine learning and rule-based reasoning. Additionally, the project aims to create a functional and interactive user interface using </a:t>
            </a:r>
            <a:r>
              <a:rPr lang="en-US" dirty="0" err="1"/>
              <a:t>Streamlit</a:t>
            </a:r>
            <a:r>
              <a:rPr lang="en-US" dirty="0"/>
              <a:t>.</a:t>
            </a:r>
          </a:p>
          <a:p>
            <a:endParaRPr lang="en-US" dirty="0"/>
          </a:p>
        </p:txBody>
      </p:sp>
      <p:pic>
        <p:nvPicPr>
          <p:cNvPr id="6" name="Picture Placeholder 5" descr="A person holding a microphone and standing in front of a group of people">
            <a:extLst>
              <a:ext uri="{FF2B5EF4-FFF2-40B4-BE49-F238E27FC236}">
                <a16:creationId xmlns:a16="http://schemas.microsoft.com/office/drawing/2014/main" id="{FECDA901-DD88-89EB-E10E-A2994D0A92DB}"/>
              </a:ext>
            </a:extLst>
          </p:cNvPr>
          <p:cNvPicPr>
            <a:picLocks noGrp="1" noChangeAspect="1"/>
          </p:cNvPicPr>
          <p:nvPr>
            <p:ph type="pic" sz="quarter" idx="11"/>
          </p:nvPr>
        </p:nvPicPr>
        <p:blipFill rotWithShape="1">
          <a:blip r:embed="rId3">
            <a:duotone>
              <a:prstClr val="black"/>
              <a:schemeClr val="accent3">
                <a:tint val="45000"/>
                <a:satMod val="400000"/>
              </a:schemeClr>
            </a:duotone>
          </a:blip>
          <a:srcRect l="27745" r="27745"/>
          <a:stretch/>
        </p:blipFill>
        <p:spPr>
          <a:xfrm>
            <a:off x="7414194" y="410780"/>
            <a:ext cx="4344695" cy="6447220"/>
          </a:xfrm>
        </p:spPr>
      </p:pic>
    </p:spTree>
    <p:extLst>
      <p:ext uri="{BB962C8B-B14F-4D97-AF65-F5344CB8AC3E}">
        <p14:creationId xmlns:p14="http://schemas.microsoft.com/office/powerpoint/2010/main" val="29529238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8638391" cy="994164"/>
          </a:xfrm>
        </p:spPr>
        <p:txBody>
          <a:bodyPr/>
          <a:lstStyle/>
          <a:p>
            <a:r>
              <a:rPr lang="en-US" b="1" dirty="0"/>
              <a:t>INTELLIGENT AGENT CONCEPT</a:t>
            </a:r>
            <a:br>
              <a:rPr lang="en-US" b="1" dirty="0"/>
            </a:b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906829" y="2092530"/>
            <a:ext cx="8519196" cy="4097772"/>
          </a:xfrm>
        </p:spPr>
        <p:txBody>
          <a:bodyPr/>
          <a:lstStyle/>
          <a:p>
            <a:pPr marL="0" indent="0">
              <a:buNone/>
            </a:pPr>
            <a:endParaRPr lang="en-US" b="1" dirty="0"/>
          </a:p>
          <a:p>
            <a:r>
              <a:rPr lang="en-US" dirty="0"/>
              <a:t>In artificial intelligence, an intelligent agent is an entity that perceives its environment, makes decisions, and performs actions to achieve specific goals. The chatbot in this project functions as an intelligent agent.</a:t>
            </a:r>
          </a:p>
          <a:p>
            <a:r>
              <a:rPr lang="en-US" dirty="0"/>
              <a:t>It perceives the environment through user text input, reasons by applying machine learning and logical rules, and acts by generating appropriate responses. This agent-based approach allows the chatbot to adapt its behavior based on user interactions.</a:t>
            </a:r>
          </a:p>
          <a:p>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225491" y="1057275"/>
            <a:ext cx="7182935" cy="1454920"/>
          </a:xfrm>
        </p:spPr>
        <p:txBody>
          <a:bodyPr/>
          <a:lstStyle/>
          <a:p>
            <a:r>
              <a:rPr lang="en-US" b="1" dirty="0"/>
              <a:t>PEAS FRAMEWORK</a:t>
            </a:r>
            <a:br>
              <a:rPr lang="en-US" b="1" dirty="0"/>
            </a:br>
            <a:endParaRPr lang="en-US"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3840480" y="2682743"/>
            <a:ext cx="7567946" cy="3401202"/>
          </a:xfrm>
        </p:spPr>
        <p:txBody>
          <a:bodyPr>
            <a:normAutofit fontScale="92500" lnSpcReduction="20000"/>
          </a:bodyPr>
          <a:lstStyle/>
          <a:p>
            <a:endParaRPr lang="en-US" b="1" dirty="0"/>
          </a:p>
          <a:p>
            <a:r>
              <a:rPr lang="en-US" dirty="0"/>
              <a:t>The PEAS framework is used to describe the task environment of an intelligent agent.</a:t>
            </a:r>
          </a:p>
          <a:p>
            <a:pPr>
              <a:buFont typeface="Arial" panose="020B0604020202020204" pitchFamily="34" charset="0"/>
              <a:buChar char="•"/>
            </a:pPr>
            <a:r>
              <a:rPr lang="en-US" b="1" dirty="0"/>
              <a:t>Performance Measure:</a:t>
            </a:r>
            <a:r>
              <a:rPr lang="en-US" dirty="0"/>
              <a:t> Accuracy and F1-score of intent classification, as well as correct responses.</a:t>
            </a:r>
          </a:p>
          <a:p>
            <a:pPr>
              <a:buFont typeface="Arial" panose="020B0604020202020204" pitchFamily="34" charset="0"/>
              <a:buChar char="•"/>
            </a:pPr>
            <a:r>
              <a:rPr lang="en-US" b="1" dirty="0"/>
              <a:t>Environment:</a:t>
            </a:r>
            <a:r>
              <a:rPr lang="en-US" dirty="0"/>
              <a:t> A text-based, partially observable, and static environment.</a:t>
            </a:r>
          </a:p>
          <a:p>
            <a:pPr>
              <a:buFont typeface="Arial" panose="020B0604020202020204" pitchFamily="34" charset="0"/>
              <a:buChar char="•"/>
            </a:pPr>
            <a:r>
              <a:rPr lang="en-US" b="1" dirty="0"/>
              <a:t>Actuators:</a:t>
            </a:r>
            <a:r>
              <a:rPr lang="en-US" dirty="0"/>
              <a:t> Text responses displayed in the chatbot interface.</a:t>
            </a:r>
          </a:p>
          <a:p>
            <a:pPr>
              <a:buFont typeface="Arial" panose="020B0604020202020204" pitchFamily="34" charset="0"/>
              <a:buChar char="•"/>
            </a:pPr>
            <a:r>
              <a:rPr lang="en-US" b="1" dirty="0"/>
              <a:t>Sensors:</a:t>
            </a:r>
            <a:r>
              <a:rPr lang="en-US" dirty="0"/>
              <a:t> User text input entered through the </a:t>
            </a:r>
            <a:r>
              <a:rPr lang="en-US" dirty="0" err="1"/>
              <a:t>Streamlit</a:t>
            </a:r>
            <a:r>
              <a:rPr lang="en-US" dirty="0"/>
              <a:t> application.</a:t>
            </a:r>
          </a:p>
          <a:p>
            <a:r>
              <a:rPr lang="en-US" dirty="0"/>
              <a:t>This framework helps define how the chatbot operates and how its performance is evaluated.</a:t>
            </a:r>
          </a:p>
          <a:p>
            <a:endParaRPr lang="en-US" dirty="0"/>
          </a:p>
        </p:txBody>
      </p:sp>
    </p:spTree>
    <p:extLst>
      <p:ext uri="{BB962C8B-B14F-4D97-AF65-F5344CB8AC3E}">
        <p14:creationId xmlns:p14="http://schemas.microsoft.com/office/powerpoint/2010/main" val="1131718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834635"/>
            <a:ext cx="7796464" cy="1222385"/>
          </a:xfrm>
        </p:spPr>
        <p:txBody>
          <a:bodyPr/>
          <a:lstStyle/>
          <a:p>
            <a:r>
              <a:rPr lang="en-US" b="1" dirty="0"/>
              <a:t>AI TECHNIQUES USED</a:t>
            </a:r>
            <a:br>
              <a:rPr lang="en-US" b="1" dirty="0"/>
            </a:br>
            <a:endParaRPr lang="en-US" dirty="0"/>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808522" y="1927642"/>
            <a:ext cx="3850105" cy="4357655"/>
          </a:xfrm>
        </p:spPr>
        <p:txBody>
          <a:bodyPr>
            <a:normAutofit/>
          </a:bodyPr>
          <a:lstStyle/>
          <a:p>
            <a:r>
              <a:rPr lang="en-US" dirty="0"/>
              <a:t>This project integrates two main artificial intelligence techniques. The first technique is machine learning, which is used to classify user intent based on text input. This allows the chatbot to understand what the user is asking.</a:t>
            </a:r>
          </a:p>
          <a:p>
            <a:endParaRPr lang="en-US" dirty="0"/>
          </a:p>
        </p:txBody>
      </p:sp>
      <p:sp>
        <p:nvSpPr>
          <p:cNvPr id="17" name="Content Placeholder 6">
            <a:extLst>
              <a:ext uri="{FF2B5EF4-FFF2-40B4-BE49-F238E27FC236}">
                <a16:creationId xmlns:a16="http://schemas.microsoft.com/office/drawing/2014/main" id="{33680A80-5C61-DD02-1119-0565C0AD5372}"/>
              </a:ext>
            </a:extLst>
          </p:cNvPr>
          <p:cNvSpPr>
            <a:spLocks noGrp="1"/>
          </p:cNvSpPr>
          <p:nvPr>
            <p:ph sz="quarter" idx="4"/>
          </p:nvPr>
        </p:nvSpPr>
        <p:spPr>
          <a:xfrm>
            <a:off x="4745255" y="1927642"/>
            <a:ext cx="3619099" cy="3982269"/>
          </a:xfrm>
        </p:spPr>
        <p:txBody>
          <a:bodyPr>
            <a:normAutofit/>
          </a:bodyPr>
          <a:lstStyle/>
          <a:p>
            <a:r>
              <a:rPr lang="en-US" dirty="0"/>
              <a:t>The second technique is rule-based reasoning, which is used to generate appropriate responses and manage conversational flow. By combining these techniques, the chatbot becomes more flexible and intelligent than a simple rule-based system.</a:t>
            </a:r>
          </a:p>
          <a:p>
            <a:endParaRPr lang="en-US" dirty="0"/>
          </a:p>
        </p:txBody>
      </p:sp>
    </p:spTree>
    <p:extLst>
      <p:ext uri="{BB962C8B-B14F-4D97-AF65-F5344CB8AC3E}">
        <p14:creationId xmlns:p14="http://schemas.microsoft.com/office/powerpoint/2010/main" val="2468595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965393"/>
            <a:ext cx="7631709" cy="1091627"/>
          </a:xfrm>
        </p:spPr>
        <p:txBody>
          <a:bodyPr/>
          <a:lstStyle/>
          <a:p>
            <a:r>
              <a:rPr lang="en-US" b="1" dirty="0"/>
              <a:t>INTENT CLASSIFICATION (MACHINE LEARNING)</a:t>
            </a:r>
            <a:br>
              <a:rPr lang="en-US" b="1" dirty="0"/>
            </a:br>
            <a:endParaRPr lang="en-US" dirty="0"/>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914400" y="2303463"/>
            <a:ext cx="3282950" cy="4143375"/>
          </a:xfrm>
        </p:spPr>
        <p:txBody>
          <a:bodyPr>
            <a:normAutofit/>
          </a:bodyPr>
          <a:lstStyle/>
          <a:p>
            <a:r>
              <a:rPr lang="en-US" dirty="0"/>
              <a:t>Intent classification is a key component of the chatbot. The system uses TF-IDF (Term Frequency–Inverse Document Frequency) to convert user text into numerical features. These features are then used by a Naive Bayes classifier to predict the user’s intent.</a:t>
            </a:r>
          </a:p>
          <a:p>
            <a:endParaRPr lang="en-US" dirty="0"/>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4781550" y="2303463"/>
            <a:ext cx="3763963" cy="4143375"/>
          </a:xfrm>
        </p:spPr>
        <p:txBody>
          <a:bodyPr/>
          <a:lstStyle/>
          <a:p>
            <a:r>
              <a:rPr lang="en-US" dirty="0"/>
              <a:t>The model is trained on predefined academic intents and saved for later use. During runtime, the chatbot loads the trained model and predicts the intent of each user message in real time.</a:t>
            </a:r>
          </a:p>
          <a:p>
            <a:endParaRPr lang="en-US" dirty="0"/>
          </a:p>
        </p:txBody>
      </p:sp>
      <p:pic>
        <p:nvPicPr>
          <p:cNvPr id="10" name="Picture Placeholder 9" descr="A person wearing a blue suit and headphones pointing at a computer">
            <a:extLst>
              <a:ext uri="{FF2B5EF4-FFF2-40B4-BE49-F238E27FC236}">
                <a16:creationId xmlns:a16="http://schemas.microsoft.com/office/drawing/2014/main" id="{DD0A0899-5B02-CEB5-E5DD-448B169C2377}"/>
              </a:ext>
            </a:extLst>
          </p:cNvPr>
          <p:cNvPicPr>
            <a:picLocks noGrp="1" noChangeAspect="1"/>
          </p:cNvPicPr>
          <p:nvPr>
            <p:ph type="pic" sz="quarter" idx="14"/>
          </p:nvPr>
        </p:nvPicPr>
        <p:blipFill rotWithShape="1">
          <a:blip r:embed="rId3">
            <a:duotone>
              <a:prstClr val="black"/>
              <a:schemeClr val="accent1">
                <a:tint val="45000"/>
                <a:satMod val="400000"/>
              </a:schemeClr>
            </a:duotone>
          </a:blip>
          <a:srcRect l="31888" r="31888"/>
          <a:stretch/>
        </p:blipFill>
        <p:spPr>
          <a:xfrm>
            <a:off x="8989454" y="965393"/>
            <a:ext cx="3202545" cy="5892607"/>
          </a:xfrm>
        </p:spPr>
      </p:pic>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19416196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1057274"/>
            <a:ext cx="7843837" cy="1012782"/>
          </a:xfrm>
        </p:spPr>
        <p:txBody>
          <a:bodyPr/>
          <a:lstStyle/>
          <a:p>
            <a:r>
              <a:rPr lang="en-US" b="1" dirty="0"/>
              <a:t>CONTEXT AWARENESS AND MEMORY</a:t>
            </a:r>
            <a:br>
              <a:rPr lang="en-US" b="1" dirty="0"/>
            </a:br>
            <a:endParaRPr lang="en-US" dirty="0"/>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914400" y="2078909"/>
            <a:ext cx="6903076" cy="3721817"/>
          </a:xfrm>
        </p:spPr>
        <p:txBody>
          <a:bodyPr/>
          <a:lstStyle/>
          <a:p>
            <a:r>
              <a:rPr lang="en-US" dirty="0"/>
              <a:t>Context awareness allows the chatbot to remember previous user interactions and respond more intelligently. In this project, context is managed using </a:t>
            </a:r>
            <a:r>
              <a:rPr lang="en-US" dirty="0" err="1"/>
              <a:t>Streamlit</a:t>
            </a:r>
            <a:r>
              <a:rPr lang="en-US" dirty="0"/>
              <a:t> session state.</a:t>
            </a:r>
          </a:p>
          <a:p>
            <a:r>
              <a:rPr lang="en-US" dirty="0"/>
              <a:t>The chatbot stores the last detected intent and subject, which enables it to understand follow-up questions. This feature improves the user experience by making conversations more natural and meaningful.</a:t>
            </a:r>
          </a:p>
          <a:p>
            <a:endParaRPr lang="en-US" dirty="0"/>
          </a:p>
        </p:txBody>
      </p:sp>
      <p:pic>
        <p:nvPicPr>
          <p:cNvPr id="7" name="Picture Placeholder 6" descr="A person wearing glasses and a blue shirt">
            <a:extLst>
              <a:ext uri="{FF2B5EF4-FFF2-40B4-BE49-F238E27FC236}">
                <a16:creationId xmlns:a16="http://schemas.microsoft.com/office/drawing/2014/main" id="{C570EB79-053B-0283-9D2D-6266701EEDDD}"/>
              </a:ext>
            </a:extLst>
          </p:cNvPr>
          <p:cNvPicPr>
            <a:picLocks noGrp="1" noChangeAspect="1"/>
          </p:cNvPicPr>
          <p:nvPr>
            <p:ph type="pic" sz="quarter" idx="14"/>
          </p:nvPr>
        </p:nvPicPr>
        <p:blipFill rotWithShape="1">
          <a:blip r:embed="rId3">
            <a:duotone>
              <a:prstClr val="black"/>
              <a:schemeClr val="accent4">
                <a:tint val="45000"/>
                <a:satMod val="400000"/>
              </a:schemeClr>
            </a:duotone>
          </a:blip>
          <a:srcRect l="19088" r="19088"/>
          <a:stretch/>
        </p:blipFill>
        <p:spPr>
          <a:xfrm>
            <a:off x="8989454" y="3405189"/>
            <a:ext cx="3202546" cy="3452811"/>
          </a:xfrm>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407210172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B67FF-FC56-4CD2-AD18-7075BC384A06}"/>
              </a:ext>
            </a:extLst>
          </p:cNvPr>
          <p:cNvSpPr>
            <a:spLocks noGrp="1"/>
          </p:cNvSpPr>
          <p:nvPr>
            <p:ph type="ctrTitle"/>
          </p:nvPr>
        </p:nvSpPr>
        <p:spPr/>
        <p:txBody>
          <a:bodyPr/>
          <a:lstStyle/>
          <a:p>
            <a:r>
              <a:rPr lang="en-US" b="1" dirty="0"/>
              <a:t>SYSTEM ARCHITECTURE</a:t>
            </a:r>
            <a:br>
              <a:rPr lang="en-US" b="1" dirty="0"/>
            </a:br>
            <a:endParaRPr lang="en-US" dirty="0"/>
          </a:p>
        </p:txBody>
      </p:sp>
      <p:sp>
        <p:nvSpPr>
          <p:cNvPr id="3" name="Subtitle 2">
            <a:extLst>
              <a:ext uri="{FF2B5EF4-FFF2-40B4-BE49-F238E27FC236}">
                <a16:creationId xmlns:a16="http://schemas.microsoft.com/office/drawing/2014/main" id="{07409E34-09D6-440D-8C54-E9E61AB16B25}"/>
              </a:ext>
            </a:extLst>
          </p:cNvPr>
          <p:cNvSpPr>
            <a:spLocks noGrp="1"/>
          </p:cNvSpPr>
          <p:nvPr>
            <p:ph type="subTitle" idx="1"/>
          </p:nvPr>
        </p:nvSpPr>
        <p:spPr>
          <a:xfrm>
            <a:off x="721895" y="3195587"/>
            <a:ext cx="5907506" cy="2852661"/>
          </a:xfrm>
        </p:spPr>
        <p:txBody>
          <a:bodyPr>
            <a:normAutofit fontScale="92500" lnSpcReduction="20000"/>
          </a:bodyPr>
          <a:lstStyle/>
          <a:p>
            <a:r>
              <a:rPr lang="en-US" dirty="0"/>
              <a:t>The system architecture consists of several interconnected components. First, the user enters a message through the </a:t>
            </a:r>
            <a:r>
              <a:rPr lang="en-US" dirty="0" err="1"/>
              <a:t>Streamlit</a:t>
            </a:r>
            <a:r>
              <a:rPr lang="en-US" dirty="0"/>
              <a:t> interface. The input is then sent to the intent classification model.</a:t>
            </a:r>
          </a:p>
          <a:p>
            <a:r>
              <a:rPr lang="en-US" dirty="0"/>
              <a:t>After the intent is predicted, the chatbot logic determines the correct response based on the intent and conversation context. Finally, the response is displayed back to the user in the web interface.</a:t>
            </a:r>
          </a:p>
          <a:p>
            <a:endParaRPr lang="en-US" dirty="0"/>
          </a:p>
        </p:txBody>
      </p:sp>
    </p:spTree>
    <p:extLst>
      <p:ext uri="{BB962C8B-B14F-4D97-AF65-F5344CB8AC3E}">
        <p14:creationId xmlns:p14="http://schemas.microsoft.com/office/powerpoint/2010/main" val="1840537211"/>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550564" y="1057274"/>
            <a:ext cx="9875463" cy="999746"/>
          </a:xfrm>
        </p:spPr>
        <p:txBody>
          <a:bodyPr/>
          <a:lstStyle/>
          <a:p>
            <a:r>
              <a:rPr kumimoji="0" lang="en-US" altLang="en-US" sz="3600" b="1" i="0" u="none" strike="noStrike" cap="none" normalizeH="0" baseline="0" dirty="0">
                <a:ln>
                  <a:noFill/>
                </a:ln>
                <a:solidFill>
                  <a:schemeClr val="tx1"/>
                </a:solidFill>
                <a:effectLst/>
                <a:latin typeface="Arial" panose="020B0604020202020204" pitchFamily="34" charset="0"/>
              </a:rPr>
              <a:t>CODE EXPLANATION: app.py</a:t>
            </a:r>
            <a:br>
              <a:rPr kumimoji="0" lang="en-US" altLang="en-US" sz="3600" b="1" i="0" u="none" strike="noStrike" cap="none" normalizeH="0" baseline="0" dirty="0">
                <a:ln>
                  <a:noFill/>
                </a:ln>
                <a:solidFill>
                  <a:schemeClr val="tx1"/>
                </a:solidFill>
                <a:effectLst/>
                <a:latin typeface="Arial" panose="020B0604020202020204" pitchFamily="34" charset="0"/>
              </a:rPr>
            </a:br>
            <a:endParaRPr lang="en-US" dirty="0"/>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11</a:t>
            </a:fld>
            <a:endParaRPr lang="en-US" dirty="0"/>
          </a:p>
        </p:txBody>
      </p:sp>
      <p:sp>
        <p:nvSpPr>
          <p:cNvPr id="4" name="Rectangle 1">
            <a:extLst>
              <a:ext uri="{FF2B5EF4-FFF2-40B4-BE49-F238E27FC236}">
                <a16:creationId xmlns:a16="http://schemas.microsoft.com/office/drawing/2014/main" id="{BD17FB1A-02E5-4300-996C-E6B4430D019E}"/>
              </a:ext>
            </a:extLst>
          </p:cNvPr>
          <p:cNvSpPr>
            <a:spLocks noGrp="1" noChangeArrowheads="1"/>
          </p:cNvSpPr>
          <p:nvPr>
            <p:ph sz="half" idx="2"/>
          </p:nvPr>
        </p:nvSpPr>
        <p:spPr bwMode="auto">
          <a:xfrm>
            <a:off x="596900" y="1292172"/>
            <a:ext cx="40767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0" i="0" u="none" strike="noStrike" cap="none" normalizeH="0" baseline="0" dirty="0">
                <a:ln>
                  <a:noFill/>
                </a:ln>
                <a:solidFill>
                  <a:schemeClr val="tx1"/>
                </a:solidFill>
                <a:effectLst/>
                <a:latin typeface="Arial Unicode MS"/>
              </a:rPr>
              <a:t>app.py</a:t>
            </a:r>
            <a:r>
              <a:rPr kumimoji="0" lang="en-US" altLang="en-US" sz="2000" b="0" i="0" u="none" strike="noStrike" cap="none" normalizeH="0" baseline="0" dirty="0">
                <a:ln>
                  <a:noFill/>
                </a:ln>
                <a:solidFill>
                  <a:schemeClr val="tx1"/>
                </a:solidFill>
                <a:effectLst/>
              </a:rPr>
              <a:t> file is the main entry point of the application. It uses </a:t>
            </a:r>
            <a:r>
              <a:rPr kumimoji="0" lang="en-US" altLang="en-US" sz="2000" b="0" i="0" u="none" strike="noStrike" cap="none" normalizeH="0" baseline="0" dirty="0" err="1">
                <a:ln>
                  <a:noFill/>
                </a:ln>
                <a:solidFill>
                  <a:schemeClr val="tx1"/>
                </a:solidFill>
                <a:effectLst/>
              </a:rPr>
              <a:t>Streamlit</a:t>
            </a:r>
            <a:r>
              <a:rPr kumimoji="0" lang="en-US" altLang="en-US" sz="2000" b="0" i="0" u="none" strike="noStrike" cap="none" normalizeH="0" baseline="0" dirty="0">
                <a:ln>
                  <a:noFill/>
                </a:ln>
                <a:solidFill>
                  <a:schemeClr val="tx1"/>
                </a:solidFill>
                <a:effectLst/>
              </a:rPr>
              <a:t> to create the user interface and handle user input. The file also manages session state to store context information.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When the user enters a message, the app predicts the intent, updates the context, and calls the chatbot logic to generate a response. The response is then displayed in the chatbot interface.</a:t>
            </a:r>
          </a:p>
          <a:p>
            <a:pPr marL="0" marR="0" lvl="0" indent="0" algn="l" defTabSz="914400" rtl="0" eaLnBrk="0" fontAlgn="base" latinLnBrk="0" hangingPunct="0">
              <a:lnSpc>
                <a:spcPct val="100000"/>
              </a:lnSpc>
              <a:spcBef>
                <a:spcPct val="0"/>
              </a:spcBef>
              <a:spcAft>
                <a:spcPct val="0"/>
              </a:spcAft>
              <a:buClrTx/>
              <a:buSzTx/>
              <a:buFontTx/>
              <a:buNone/>
              <a:tabLst/>
            </a:pPr>
            <a:r>
              <a:rPr lang="en-US" sz="2000" dirty="0">
                <a:solidFill>
                  <a:schemeClr val="tx1"/>
                </a:solidFill>
              </a:rPr>
              <a:t>“The app.py file controls the intelligent agent. It connects user input with the intent classifier and the rule-based response logic.”</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10" name="Content Placeholder 9">
            <a:extLst>
              <a:ext uri="{FF2B5EF4-FFF2-40B4-BE49-F238E27FC236}">
                <a16:creationId xmlns:a16="http://schemas.microsoft.com/office/drawing/2014/main" id="{00EFD10D-2954-4DB6-A36B-B50250CB6B10}"/>
              </a:ext>
            </a:extLst>
          </p:cNvPr>
          <p:cNvPicPr>
            <a:picLocks noGrp="1" noChangeAspect="1"/>
          </p:cNvPicPr>
          <p:nvPr>
            <p:ph sz="half" idx="15"/>
          </p:nvPr>
        </p:nvPicPr>
        <p:blipFill>
          <a:blip r:embed="rId3"/>
          <a:stretch>
            <a:fillRect/>
          </a:stretch>
        </p:blipFill>
        <p:spPr>
          <a:xfrm>
            <a:off x="4851400" y="1803400"/>
            <a:ext cx="7048475" cy="4873886"/>
          </a:xfrm>
        </p:spPr>
      </p:pic>
    </p:spTree>
    <p:extLst>
      <p:ext uri="{BB962C8B-B14F-4D97-AF65-F5344CB8AC3E}">
        <p14:creationId xmlns:p14="http://schemas.microsoft.com/office/powerpoint/2010/main" val="249802160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66EA9805-6986-493A-A4F3-13BC3F31CCC4}"/>
              </a:ext>
            </a:extLst>
          </p:cNvPr>
          <p:cNvPicPr>
            <a:picLocks noGrp="1" noChangeAspect="1"/>
          </p:cNvPicPr>
          <p:nvPr>
            <p:ph type="pic" sz="quarter" idx="11"/>
          </p:nvPr>
        </p:nvPicPr>
        <p:blipFill rotWithShape="1">
          <a:blip r:embed="rId2"/>
          <a:srcRect l="32163" r="32163"/>
          <a:stretch>
            <a:fillRect/>
          </a:stretch>
        </p:blipFill>
        <p:spPr>
          <a:xfrm>
            <a:off x="773545" y="97598"/>
            <a:ext cx="5182755" cy="6285474"/>
          </a:xfrm>
        </p:spPr>
      </p:pic>
      <p:sp>
        <p:nvSpPr>
          <p:cNvPr id="4" name="Rectangle 1">
            <a:extLst>
              <a:ext uri="{FF2B5EF4-FFF2-40B4-BE49-F238E27FC236}">
                <a16:creationId xmlns:a16="http://schemas.microsoft.com/office/drawing/2014/main" id="{087FC2DE-B406-49DB-92AB-D66B63A40A54}"/>
              </a:ext>
            </a:extLst>
          </p:cNvPr>
          <p:cNvSpPr>
            <a:spLocks noGrp="1" noChangeArrowheads="1"/>
          </p:cNvSpPr>
          <p:nvPr>
            <p:ph type="title"/>
          </p:nvPr>
        </p:nvSpPr>
        <p:spPr bwMode="auto">
          <a:xfrm>
            <a:off x="6819900" y="578321"/>
            <a:ext cx="4928754"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CODE EXPLANATION: chatbot_logic.py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0" i="0" u="none" strike="noStrike" cap="none" normalizeH="0" baseline="0" dirty="0">
                <a:ln>
                  <a:noFill/>
                </a:ln>
                <a:solidFill>
                  <a:schemeClr val="tx1"/>
                </a:solidFill>
                <a:effectLst/>
                <a:latin typeface="Arial Unicode MS"/>
              </a:rPr>
              <a:t>chatbot_logic.py</a:t>
            </a:r>
            <a:r>
              <a:rPr kumimoji="0" lang="en-US" altLang="en-US" sz="1800" b="0" i="0" u="none" strike="noStrike" cap="none" normalizeH="0" baseline="0" dirty="0">
                <a:ln>
                  <a:noFill/>
                </a:ln>
                <a:solidFill>
                  <a:schemeClr val="tx1"/>
                </a:solidFill>
                <a:effectLst/>
              </a:rPr>
              <a:t> file contains the logic for generating responses. It maps detected intents to predefined responses and handles fallback situations when the intent is not recognized.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file also updates the conversation context by storing the last intent. By separating logic from the user interface, the system becomes more modular and easier to maintain.</a:t>
            </a: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600" b="0" i="0" u="none" strike="noStrike" cap="none" normalizeH="0" baseline="0" dirty="0">
                <a:ln>
                  <a:noFill/>
                </a:ln>
                <a:solidFill>
                  <a:schemeClr val="tx1"/>
                </a:solidFill>
                <a:effectLst/>
                <a:latin typeface="Arial" panose="020B0604020202020204" pitchFamily="34" charset="0"/>
              </a:rPr>
            </a:br>
            <a:r>
              <a:rPr lang="en-US" sz="1600" dirty="0"/>
              <a:t>“The chatbot logic uses predefined rules to map detected intents to responses, which is an example of rule-based reasoning.”</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3176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CEFC3-EA19-4D1B-BDA6-731CB1D45AD1}"/>
              </a:ext>
            </a:extLst>
          </p:cNvPr>
          <p:cNvSpPr>
            <a:spLocks noGrp="1"/>
          </p:cNvSpPr>
          <p:nvPr>
            <p:ph type="title"/>
          </p:nvPr>
        </p:nvSpPr>
        <p:spPr>
          <a:xfrm>
            <a:off x="4533499" y="436445"/>
            <a:ext cx="6343048" cy="1113222"/>
          </a:xfrm>
        </p:spPr>
        <p:txBody>
          <a:bodyPr/>
          <a:lstStyle/>
          <a:p>
            <a:r>
              <a:rPr lang="en-US" sz="2800" dirty="0"/>
              <a:t>Browser view of </a:t>
            </a:r>
            <a:r>
              <a:rPr lang="en-US" sz="2800" dirty="0" err="1"/>
              <a:t>Streamlit</a:t>
            </a:r>
            <a:r>
              <a:rPr lang="en-US" sz="2800" dirty="0"/>
              <a:t> chatbot UI with “hello” → response</a:t>
            </a:r>
          </a:p>
        </p:txBody>
      </p:sp>
      <p:sp>
        <p:nvSpPr>
          <p:cNvPr id="3" name="Slide Number Placeholder 2">
            <a:extLst>
              <a:ext uri="{FF2B5EF4-FFF2-40B4-BE49-F238E27FC236}">
                <a16:creationId xmlns:a16="http://schemas.microsoft.com/office/drawing/2014/main" id="{4405CB1B-64A1-4697-BBA5-5021FE2A3FB7}"/>
              </a:ext>
            </a:extLst>
          </p:cNvPr>
          <p:cNvSpPr>
            <a:spLocks noGrp="1"/>
          </p:cNvSpPr>
          <p:nvPr>
            <p:ph type="sldNum" sz="quarter" idx="10"/>
          </p:nvPr>
        </p:nvSpPr>
        <p:spPr/>
        <p:txBody>
          <a:bodyPr/>
          <a:lstStyle/>
          <a:p>
            <a:fld id="{48F63A3B-78C7-47BE-AE5E-E10140E04643}" type="slidenum">
              <a:rPr lang="en-US" smtClean="0"/>
              <a:pPr/>
              <a:t>13</a:t>
            </a:fld>
            <a:endParaRPr lang="en-US" dirty="0"/>
          </a:p>
        </p:txBody>
      </p:sp>
      <p:pic>
        <p:nvPicPr>
          <p:cNvPr id="6" name="Content Placeholder 5">
            <a:extLst>
              <a:ext uri="{FF2B5EF4-FFF2-40B4-BE49-F238E27FC236}">
                <a16:creationId xmlns:a16="http://schemas.microsoft.com/office/drawing/2014/main" id="{8CA8528B-6C86-4FE3-B94B-5623F444CBB3}"/>
              </a:ext>
            </a:extLst>
          </p:cNvPr>
          <p:cNvPicPr>
            <a:picLocks noGrp="1" noChangeAspect="1"/>
          </p:cNvPicPr>
          <p:nvPr>
            <p:ph idx="11"/>
          </p:nvPr>
        </p:nvPicPr>
        <p:blipFill>
          <a:blip r:embed="rId2"/>
          <a:stretch>
            <a:fillRect/>
          </a:stretch>
        </p:blipFill>
        <p:spPr>
          <a:xfrm>
            <a:off x="3484344" y="1674796"/>
            <a:ext cx="8450983" cy="4604420"/>
          </a:xfrm>
        </p:spPr>
      </p:pic>
    </p:spTree>
    <p:extLst>
      <p:ext uri="{BB962C8B-B14F-4D97-AF65-F5344CB8AC3E}">
        <p14:creationId xmlns:p14="http://schemas.microsoft.com/office/powerpoint/2010/main" val="354903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08BE5-0474-478E-A1F8-5DC857B9E79E}"/>
              </a:ext>
            </a:extLst>
          </p:cNvPr>
          <p:cNvSpPr>
            <a:spLocks noGrp="1"/>
          </p:cNvSpPr>
          <p:nvPr>
            <p:ph type="title"/>
          </p:nvPr>
        </p:nvSpPr>
        <p:spPr>
          <a:xfrm>
            <a:off x="4064000" y="304801"/>
            <a:ext cx="7344427" cy="1866900"/>
          </a:xfrm>
        </p:spPr>
        <p:txBody>
          <a:bodyPr/>
          <a:lstStyle/>
          <a:p>
            <a:r>
              <a:rPr lang="en-US" dirty="0"/>
              <a:t>CONCLUSION</a:t>
            </a:r>
            <a:br>
              <a:rPr lang="en-US" dirty="0"/>
            </a:br>
            <a:endParaRPr lang="en-US" dirty="0"/>
          </a:p>
        </p:txBody>
      </p:sp>
      <p:sp>
        <p:nvSpPr>
          <p:cNvPr id="3" name="Slide Number Placeholder 2">
            <a:extLst>
              <a:ext uri="{FF2B5EF4-FFF2-40B4-BE49-F238E27FC236}">
                <a16:creationId xmlns:a16="http://schemas.microsoft.com/office/drawing/2014/main" id="{5ED712A1-A1C0-4626-B2A9-277C60E389BD}"/>
              </a:ext>
            </a:extLst>
          </p:cNvPr>
          <p:cNvSpPr>
            <a:spLocks noGrp="1"/>
          </p:cNvSpPr>
          <p:nvPr>
            <p:ph type="sldNum" sz="quarter" idx="10"/>
          </p:nvPr>
        </p:nvSpPr>
        <p:spPr/>
        <p:txBody>
          <a:bodyPr/>
          <a:lstStyle/>
          <a:p>
            <a:fld id="{48F63A3B-78C7-47BE-AE5E-E10140E04643}" type="slidenum">
              <a:rPr lang="en-US" smtClean="0"/>
              <a:pPr/>
              <a:t>14</a:t>
            </a:fld>
            <a:endParaRPr lang="en-US" dirty="0"/>
          </a:p>
        </p:txBody>
      </p:sp>
      <p:sp>
        <p:nvSpPr>
          <p:cNvPr id="4" name="Content Placeholder 3">
            <a:extLst>
              <a:ext uri="{FF2B5EF4-FFF2-40B4-BE49-F238E27FC236}">
                <a16:creationId xmlns:a16="http://schemas.microsoft.com/office/drawing/2014/main" id="{540A10A1-4CFC-4F35-B165-AFCFD62F88CD}"/>
              </a:ext>
            </a:extLst>
          </p:cNvPr>
          <p:cNvSpPr>
            <a:spLocks noGrp="1"/>
          </p:cNvSpPr>
          <p:nvPr>
            <p:ph idx="11"/>
          </p:nvPr>
        </p:nvSpPr>
        <p:spPr>
          <a:xfrm>
            <a:off x="4064000" y="2324100"/>
            <a:ext cx="7344426" cy="3717884"/>
          </a:xfrm>
        </p:spPr>
        <p:txBody>
          <a:bodyPr>
            <a:normAutofit/>
          </a:bodyPr>
          <a:lstStyle/>
          <a:p>
            <a:br>
              <a:rPr lang="en-US" b="1" dirty="0"/>
            </a:br>
            <a:r>
              <a:rPr lang="en-US" dirty="0"/>
              <a:t>This project demonstrates the successful development of a context-aware academic help chatbot using artificial intelligence techniques. By combining machine learning for intent classification with rule-based logic, the chatbot can understand user questions and provide relevant academic responses. The system shows how AI concepts can be applied in a practical and useful educational application.</a:t>
            </a:r>
          </a:p>
        </p:txBody>
      </p:sp>
    </p:spTree>
    <p:extLst>
      <p:ext uri="{BB962C8B-B14F-4D97-AF65-F5344CB8AC3E}">
        <p14:creationId xmlns:p14="http://schemas.microsoft.com/office/powerpoint/2010/main" val="32535946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910FD-8C4F-4898-BFF6-7354FAF6A448}"/>
              </a:ext>
            </a:extLst>
          </p:cNvPr>
          <p:cNvSpPr>
            <a:spLocks noGrp="1"/>
          </p:cNvSpPr>
          <p:nvPr>
            <p:ph type="ctrTitle"/>
          </p:nvPr>
        </p:nvSpPr>
        <p:spPr/>
        <p:txBody>
          <a:bodyPr/>
          <a:lstStyle/>
          <a:p>
            <a:r>
              <a:rPr lang="en-US" sz="6000" dirty="0"/>
              <a:t>Thank </a:t>
            </a:r>
            <a:br>
              <a:rPr lang="en-US" sz="6000" dirty="0"/>
            </a:br>
            <a:r>
              <a:rPr lang="en-US" sz="6000" dirty="0"/>
              <a:t>you</a:t>
            </a:r>
          </a:p>
        </p:txBody>
      </p:sp>
    </p:spTree>
    <p:extLst>
      <p:ext uri="{BB962C8B-B14F-4D97-AF65-F5344CB8AC3E}">
        <p14:creationId xmlns:p14="http://schemas.microsoft.com/office/powerpoint/2010/main" val="267512311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{BD1C90B7-C67F-43B3-84A6-B1AEB6DAD90C}tf78438558_win32</Template>
  <TotalTime>126</TotalTime>
  <Words>1075</Words>
  <Application>Microsoft Office PowerPoint</Application>
  <PresentationFormat>Widescreen</PresentationFormat>
  <Paragraphs>56</Paragraphs>
  <Slides>15</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Black</vt:lpstr>
      <vt:lpstr>Arial Unicode MS</vt:lpstr>
      <vt:lpstr>Calibri</vt:lpstr>
      <vt:lpstr>Sabon Next LT</vt:lpstr>
      <vt:lpstr>Custom</vt:lpstr>
      <vt:lpstr>Context-Aware Academic Help Chatbot Course: CEN 352 – Artificial Intelligence Student: Ornela Senja Year: 2025-2026 This project focuses on the design and implementation of a context-aware academic help chatbot using artificial intelligence techniques. The system allows students to interact with a chatbot through natural language and receive helpful academic responses in real time. </vt:lpstr>
      <vt:lpstr>INTRODUCTION </vt:lpstr>
      <vt:lpstr>PROBLEM STATEMENT </vt:lpstr>
      <vt:lpstr>PROJECT OBJECTIVES </vt:lpstr>
      <vt:lpstr>INTELLIGENT AGENT CONCEPT </vt:lpstr>
      <vt:lpstr>PEAS FRAMEWORK </vt:lpstr>
      <vt:lpstr>AI TECHNIQUES USED </vt:lpstr>
      <vt:lpstr>INTENT CLASSIFICATION (MACHINE LEARNING) </vt:lpstr>
      <vt:lpstr>CONTEXT AWARENESS AND MEMORY </vt:lpstr>
      <vt:lpstr>SYSTEM ARCHITECTURE </vt:lpstr>
      <vt:lpstr>CODE EXPLANATION: app.py </vt:lpstr>
      <vt:lpstr>CODE EXPLANATION: chatbot_logic.py The chatbot_logic.py file contains the logic for generating responses. It maps detected intents to predefined responses and handles fallback situations when the intent is not recognized. This file also updates the conversation context by storing the last intent. By separating logic from the user interface, the system becomes more modular and easier to maintain.  “The chatbot logic uses predefined rules to map detected intents to responses, which is an example of rule-based reasoning.”</vt:lpstr>
      <vt:lpstr>Browser view of Streamlit chatbot UI with “hello” → response</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Context-Aware Academic Help Chatbot Course: CEN 352 – Artificial Intelligence Student: Ornela Senja Year: 2025-2026 This project focuses on the design and implementation of a context-aware academic help chatbot using artificial intelligence techniques. The system allows students to interact with a chatbot through natural language and receive helpful academic responses in real time. </dc:title>
  <dc:subject/>
  <dc:creator>ornelasenja123@outlook.com</dc:creator>
  <cp:lastModifiedBy>ornelasenja123@outlook.com</cp:lastModifiedBy>
  <cp:revision>1</cp:revision>
  <dcterms:created xsi:type="dcterms:W3CDTF">2026-01-20T22:09:40Z</dcterms:created>
  <dcterms:modified xsi:type="dcterms:W3CDTF">2026-01-21T13:40:26Z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